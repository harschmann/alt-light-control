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90E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4EA1FF"/>
          </a:solidFill>
          <a:ln w="12700">
            <a:solidFill>
              <a:srgbClr val="4EA1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537960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Phone Back-Glass • Dent &amp; Scratch Inspection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10515600" y="653796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Computer Vision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4EA1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4EA1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12064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80" kern="0" dirty="0">
                <a:solidFill>
                  <a:srgbClr val="56D6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INDUSTRIAL COMPUTER VISION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66928" y="969264"/>
            <a:ext cx="73152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E7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Dent &amp; Scratch Defect</a:t>
            </a:r>
            <a:endParaRPr lang="en-US" sz="2500" dirty="0"/>
          </a:p>
          <a:p>
            <a:pPr algn="l" indent="0" marL="0">
              <a:buNone/>
            </a:pPr>
            <a:r>
              <a:rPr lang="en-US" sz="2500" b="1" dirty="0">
                <a:solidFill>
                  <a:srgbClr val="E7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Inspection — Back Glass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2212848"/>
            <a:ext cx="6675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97A8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direction: interpretable, tunable Traditional CV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97A8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 Deep Learning / Hybrid as a controlled fallback.</a:t>
            </a:r>
            <a:endParaRPr lang="en-US" sz="1120" dirty="0"/>
          </a:p>
        </p:txBody>
      </p:sp>
      <p:sp>
        <p:nvSpPr>
          <p:cNvPr id="5" name="Shape 3"/>
          <p:cNvSpPr/>
          <p:nvPr/>
        </p:nvSpPr>
        <p:spPr>
          <a:xfrm>
            <a:off x="566928" y="3154680"/>
            <a:ext cx="6583680" cy="987552"/>
          </a:xfrm>
          <a:prstGeom prst="roundRect">
            <a:avLst>
              <a:gd name="adj" fmla="val 11111"/>
            </a:avLst>
          </a:prstGeom>
          <a:solidFill>
            <a:srgbClr val="121C28"/>
          </a:solidFill>
          <a:ln w="12700">
            <a:solidFill>
              <a:srgbClr val="4EA1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" y="3355848"/>
            <a:ext cx="1508760" cy="256032"/>
          </a:xfrm>
          <a:prstGeom prst="roundRect">
            <a:avLst>
              <a:gd name="adj" fmla="val 50000"/>
            </a:avLst>
          </a:prstGeom>
          <a:solidFill>
            <a:srgbClr val="56D6E8">
              <a:alpha val="13000"/>
            </a:srgbClr>
          </a:solidFill>
          <a:ln w="10160">
            <a:solidFill>
              <a:srgbClr val="56D6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3364992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56D6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CURRENTLY UNDER TEST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768096" y="3685032"/>
            <a:ext cx="5897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E7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Controlled capture → local defect response → stable PASS / FAIL</a:t>
            </a:r>
            <a:endParaRPr lang="en-US" sz="1130" dirty="0"/>
          </a:p>
        </p:txBody>
      </p:sp>
      <p:sp>
        <p:nvSpPr>
          <p:cNvPr id="9" name="Shape 7"/>
          <p:cNvSpPr/>
          <p:nvPr/>
        </p:nvSpPr>
        <p:spPr>
          <a:xfrm>
            <a:off x="7635240" y="841248"/>
            <a:ext cx="3977640" cy="4709160"/>
          </a:xfrm>
          <a:prstGeom prst="roundRect">
            <a:avLst>
              <a:gd name="adj" fmla="val 2759"/>
            </a:avLst>
          </a:prstGeom>
          <a:solidFill>
            <a:srgbClr val="0E1722"/>
          </a:solidFill>
          <a:ln w="12700">
            <a:solidFill>
              <a:srgbClr val="2A39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09560" y="109728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spc="80" kern="0" dirty="0">
                <a:solidFill>
                  <a:srgbClr val="56D6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INSPECTION SYSTEM</a:t>
            </a:r>
            <a:endParaRPr lang="en-US" sz="720" dirty="0"/>
          </a:p>
        </p:txBody>
      </p:sp>
      <p:sp>
        <p:nvSpPr>
          <p:cNvPr id="11" name="Shape 9"/>
          <p:cNvSpPr/>
          <p:nvPr/>
        </p:nvSpPr>
        <p:spPr>
          <a:xfrm>
            <a:off x="7973568" y="1600200"/>
            <a:ext cx="978408" cy="713232"/>
          </a:xfrm>
          <a:prstGeom prst="roundRect">
            <a:avLst>
              <a:gd name="adj" fmla="val 15385"/>
            </a:avLst>
          </a:prstGeom>
          <a:solidFill>
            <a:srgbClr val="121C28"/>
          </a:solidFill>
          <a:ln w="12700">
            <a:solidFill>
              <a:srgbClr val="2A39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73568" y="1719072"/>
            <a:ext cx="978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E7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CAMERA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7973568" y="1993392"/>
            <a:ext cx="978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97A8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frame</a:t>
            </a:r>
            <a:endParaRPr lang="en-US" sz="680" dirty="0"/>
          </a:p>
        </p:txBody>
      </p:sp>
      <p:sp>
        <p:nvSpPr>
          <p:cNvPr id="14" name="Shape 12"/>
          <p:cNvSpPr/>
          <p:nvPr/>
        </p:nvSpPr>
        <p:spPr>
          <a:xfrm>
            <a:off x="9281160" y="1600200"/>
            <a:ext cx="978408" cy="713232"/>
          </a:xfrm>
          <a:prstGeom prst="roundRect">
            <a:avLst>
              <a:gd name="adj" fmla="val 15385"/>
            </a:avLst>
          </a:prstGeom>
          <a:solidFill>
            <a:srgbClr val="121C28"/>
          </a:solidFill>
          <a:ln w="12700">
            <a:solidFill>
              <a:srgbClr val="2A39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81160" y="1719072"/>
            <a:ext cx="978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E7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LIGHTING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9281160" y="1993392"/>
            <a:ext cx="978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97A8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recipe</a:t>
            </a:r>
            <a:endParaRPr lang="en-US" sz="680" dirty="0"/>
          </a:p>
        </p:txBody>
      </p:sp>
      <p:sp>
        <p:nvSpPr>
          <p:cNvPr id="17" name="Shape 15"/>
          <p:cNvSpPr/>
          <p:nvPr/>
        </p:nvSpPr>
        <p:spPr>
          <a:xfrm>
            <a:off x="10588752" y="1600200"/>
            <a:ext cx="978408" cy="713232"/>
          </a:xfrm>
          <a:prstGeom prst="roundRect">
            <a:avLst>
              <a:gd name="adj" fmla="val 15385"/>
            </a:avLst>
          </a:prstGeom>
          <a:solidFill>
            <a:srgbClr val="121C28"/>
          </a:solidFill>
          <a:ln w="12700">
            <a:solidFill>
              <a:srgbClr val="2A39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88752" y="1719072"/>
            <a:ext cx="978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E7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CV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10588752" y="1993392"/>
            <a:ext cx="978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97A8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</a:t>
            </a:r>
            <a:endParaRPr lang="en-US" sz="680" dirty="0"/>
          </a:p>
        </p:txBody>
      </p:sp>
      <p:sp>
        <p:nvSpPr>
          <p:cNvPr id="20" name="Shape 18"/>
          <p:cNvSpPr/>
          <p:nvPr/>
        </p:nvSpPr>
        <p:spPr>
          <a:xfrm>
            <a:off x="8951976" y="1956816"/>
            <a:ext cx="320040" cy="0"/>
          </a:xfrm>
          <a:prstGeom prst="line">
            <a:avLst/>
          </a:prstGeom>
          <a:noFill/>
          <a:ln w="22860">
            <a:solidFill>
              <a:srgbClr val="4EA1FF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0259568" y="1956816"/>
            <a:ext cx="320040" cy="0"/>
          </a:xfrm>
          <a:prstGeom prst="line">
            <a:avLst/>
          </a:prstGeom>
          <a:noFill/>
          <a:ln w="22860">
            <a:solidFill>
              <a:srgbClr val="4EA1FF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973568" y="2816352"/>
            <a:ext cx="3593592" cy="768096"/>
          </a:xfrm>
          <a:prstGeom prst="roundRect">
            <a:avLst>
              <a:gd name="adj" fmla="val 14286"/>
            </a:avLst>
          </a:prstGeom>
          <a:solidFill>
            <a:srgbClr val="121C28"/>
          </a:solidFill>
          <a:ln w="12700">
            <a:solidFill>
              <a:srgbClr val="2A39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83880" y="292608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6D6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Defect families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183880" y="31546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7A8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Scratch = thin high-frequency structure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97A8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Dent = localized deformation / intensity anomaly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973568" y="3913632"/>
            <a:ext cx="3593592" cy="1069848"/>
          </a:xfrm>
          <a:prstGeom prst="roundRect">
            <a:avLst>
              <a:gd name="adj" fmla="val 10256"/>
            </a:avLst>
          </a:prstGeom>
          <a:solidFill>
            <a:srgbClr val="121C28"/>
          </a:solidFill>
          <a:ln w="12700">
            <a:solidFill>
              <a:srgbClr val="2A39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83880" y="4023360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3C8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challenge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183880" y="4261104"/>
            <a:ext cx="3063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7A8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Reflective glass + micro-defects + video noise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97A8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glare / texture / dust can mimic defects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1018520" y="599846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EA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4EA1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80" kern="0" dirty="0">
                <a:solidFill>
                  <a:srgbClr val="56D6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• STATION ARCHITECTURE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E7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 the existing inspection station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25272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7A8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acquisition control modular; swap detectors without redesigning camera, lighting or capture control.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66928" y="1920240"/>
            <a:ext cx="1828800" cy="1417320"/>
          </a:xfrm>
          <a:prstGeom prst="roundRect">
            <a:avLst>
              <a:gd name="adj" fmla="val 7742"/>
            </a:avLst>
          </a:prstGeom>
          <a:solidFill>
            <a:srgbClr val="121C28"/>
          </a:solidFill>
          <a:ln w="12700">
            <a:solidFill>
              <a:srgbClr val="2A39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920240"/>
            <a:ext cx="41148" cy="1417320"/>
          </a:xfrm>
          <a:prstGeom prst="rect">
            <a:avLst/>
          </a:prstGeom>
          <a:solidFill>
            <a:srgbClr val="4EA1FF"/>
          </a:solidFill>
          <a:ln w="12700">
            <a:solidFill>
              <a:srgbClr val="4EA1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2066544"/>
            <a:ext cx="347472" cy="347472"/>
          </a:xfrm>
          <a:prstGeom prst="ellipse">
            <a:avLst/>
          </a:prstGeom>
          <a:solidFill>
            <a:srgbClr val="4EA1FF"/>
          </a:solidFill>
          <a:ln w="12700">
            <a:solidFill>
              <a:srgbClr val="4EA1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20665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1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33856" y="202996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7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CAMERA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13232" y="2377440"/>
            <a:ext cx="153619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7A8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Basler Camera 1/2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97A8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Exposure • Gain • FPS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97A8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Resolution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395728" y="2633472"/>
            <a:ext cx="457200" cy="0"/>
          </a:xfrm>
          <a:prstGeom prst="line">
            <a:avLst/>
          </a:prstGeom>
          <a:noFill/>
          <a:ln w="22860">
            <a:solidFill>
              <a:srgbClr val="4EA1FF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852928" y="1920240"/>
            <a:ext cx="1828800" cy="1417320"/>
          </a:xfrm>
          <a:prstGeom prst="roundRect">
            <a:avLst>
              <a:gd name="adj" fmla="val 7742"/>
            </a:avLst>
          </a:prstGeom>
          <a:solidFill>
            <a:srgbClr val="121C28"/>
          </a:solidFill>
          <a:ln w="12700">
            <a:solidFill>
              <a:srgbClr val="2A39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52928" y="1920240"/>
            <a:ext cx="41148" cy="1417320"/>
          </a:xfrm>
          <a:prstGeom prst="rect">
            <a:avLst/>
          </a:prstGeom>
          <a:solidFill>
            <a:srgbClr val="56D6E8"/>
          </a:solidFill>
          <a:ln w="12700">
            <a:solidFill>
              <a:srgbClr val="56D6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99232" y="2066544"/>
            <a:ext cx="347472" cy="347472"/>
          </a:xfrm>
          <a:prstGeom prst="ellipse">
            <a:avLst/>
          </a:prstGeom>
          <a:solidFill>
            <a:srgbClr val="56D6E8"/>
          </a:solidFill>
          <a:ln w="12700">
            <a:solidFill>
              <a:srgbClr val="56D6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99232" y="20665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1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19856" y="202996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7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LIGHTING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999232" y="2377440"/>
            <a:ext cx="153619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7A8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RGB recipes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97A8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Dual 4CH / Single 8CH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681728" y="2633472"/>
            <a:ext cx="457200" cy="0"/>
          </a:xfrm>
          <a:prstGeom prst="line">
            <a:avLst/>
          </a:prstGeom>
          <a:noFill/>
          <a:ln w="22860">
            <a:solidFill>
              <a:srgbClr val="4EA1FF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138928" y="1920240"/>
            <a:ext cx="1828800" cy="1417320"/>
          </a:xfrm>
          <a:prstGeom prst="roundRect">
            <a:avLst>
              <a:gd name="adj" fmla="val 7742"/>
            </a:avLst>
          </a:prstGeom>
          <a:solidFill>
            <a:srgbClr val="121C28"/>
          </a:solidFill>
          <a:ln w="12700">
            <a:solidFill>
              <a:srgbClr val="2A39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38928" y="1920240"/>
            <a:ext cx="41148" cy="1417320"/>
          </a:xfrm>
          <a:prstGeom prst="rect">
            <a:avLst/>
          </a:prstGeom>
          <a:solidFill>
            <a:srgbClr val="66D49C"/>
          </a:solidFill>
          <a:ln w="12700">
            <a:solidFill>
              <a:srgbClr val="66D49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285232" y="2066544"/>
            <a:ext cx="347472" cy="347472"/>
          </a:xfrm>
          <a:prstGeom prst="ellipse">
            <a:avLst/>
          </a:prstGeom>
          <a:solidFill>
            <a:srgbClr val="66D49C"/>
          </a:solidFill>
          <a:ln w="12700">
            <a:solidFill>
              <a:srgbClr val="66D49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85232" y="20665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1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705856" y="202996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7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285232" y="2377440"/>
            <a:ext cx="153619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7A8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Light ON → settle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97A8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 → Light OFF → save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67728" y="2633472"/>
            <a:ext cx="457200" cy="0"/>
          </a:xfrm>
          <a:prstGeom prst="line">
            <a:avLst/>
          </a:prstGeom>
          <a:noFill/>
          <a:ln w="22860">
            <a:solidFill>
              <a:srgbClr val="4EA1FF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424928" y="1920240"/>
            <a:ext cx="1828800" cy="1417320"/>
          </a:xfrm>
          <a:prstGeom prst="roundRect">
            <a:avLst>
              <a:gd name="adj" fmla="val 7742"/>
            </a:avLst>
          </a:prstGeom>
          <a:solidFill>
            <a:srgbClr val="121C28"/>
          </a:solidFill>
          <a:ln w="12700">
            <a:solidFill>
              <a:srgbClr val="2A394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424928" y="1920240"/>
            <a:ext cx="41148" cy="1417320"/>
          </a:xfrm>
          <a:prstGeom prst="rect">
            <a:avLst/>
          </a:prstGeom>
          <a:solidFill>
            <a:srgbClr val="F3C86B"/>
          </a:solidFill>
          <a:ln w="12700">
            <a:solidFill>
              <a:srgbClr val="F3C86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571232" y="2066544"/>
            <a:ext cx="347472" cy="347472"/>
          </a:xfrm>
          <a:prstGeom prst="ellipse">
            <a:avLst/>
          </a:prstGeom>
          <a:solidFill>
            <a:srgbClr val="F3C86B"/>
          </a:solidFill>
          <a:ln w="12700">
            <a:solidFill>
              <a:srgbClr val="F3C86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71232" y="20665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1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991856" y="202996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7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DETECTION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571232" y="2377440"/>
            <a:ext cx="153619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7A8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Laplacian • Canny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97A8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Pluggable detector registry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9253728" y="2633472"/>
            <a:ext cx="457200" cy="0"/>
          </a:xfrm>
          <a:prstGeom prst="line">
            <a:avLst/>
          </a:prstGeom>
          <a:noFill/>
          <a:ln w="22860">
            <a:solidFill>
              <a:srgbClr val="4EA1FF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9710928" y="1920240"/>
            <a:ext cx="1828800" cy="1417320"/>
          </a:xfrm>
          <a:prstGeom prst="roundRect">
            <a:avLst>
              <a:gd name="adj" fmla="val 7742"/>
            </a:avLst>
          </a:prstGeom>
          <a:solidFill>
            <a:srgbClr val="121C28"/>
          </a:solidFill>
          <a:ln w="12700">
            <a:solidFill>
              <a:srgbClr val="2A394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710928" y="1920240"/>
            <a:ext cx="41148" cy="1417320"/>
          </a:xfrm>
          <a:prstGeom prst="rect">
            <a:avLst/>
          </a:prstGeom>
          <a:solidFill>
            <a:srgbClr val="FF6B7A"/>
          </a:solidFill>
          <a:ln w="12700">
            <a:solidFill>
              <a:srgbClr val="FF6B7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857232" y="2066544"/>
            <a:ext cx="347472" cy="347472"/>
          </a:xfrm>
          <a:prstGeom prst="ellipse">
            <a:avLst/>
          </a:prstGeom>
          <a:solidFill>
            <a:srgbClr val="FF6B7A"/>
          </a:solidFill>
          <a:ln w="12700">
            <a:solidFill>
              <a:srgbClr val="FF6B7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857232" y="20665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1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0277856" y="202996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7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UI / RESULT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9857232" y="2377440"/>
            <a:ext cx="153619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7A8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view + parameters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97A8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Detection result / PASS / FAIL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66928" y="3813048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80" kern="0" dirty="0">
                <a:solidFill>
                  <a:srgbClr val="56D6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INTERFACE BOUNDARIES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566928" y="4114800"/>
            <a:ext cx="10972800" cy="475488"/>
          </a:xfrm>
          <a:prstGeom prst="roundRect">
            <a:avLst>
              <a:gd name="adj" fmla="val 23077"/>
            </a:avLst>
          </a:prstGeom>
          <a:solidFill>
            <a:srgbClr val="0E1722"/>
          </a:solidFill>
          <a:ln w="12700">
            <a:solidFill>
              <a:srgbClr val="2A39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49808" y="420624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E7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Hardware boundary</a:t>
            </a:r>
            <a:endParaRPr lang="en-US" sz="820" dirty="0"/>
          </a:p>
        </p:txBody>
      </p:sp>
      <p:sp>
        <p:nvSpPr>
          <p:cNvPr id="42" name="Text 40"/>
          <p:cNvSpPr/>
          <p:nvPr/>
        </p:nvSpPr>
        <p:spPr>
          <a:xfrm>
            <a:off x="2606040" y="418795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97A8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Camera + lighting are controlled at acquisition stage.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9738360" y="4224528"/>
            <a:ext cx="1444752" cy="256032"/>
          </a:xfrm>
          <a:prstGeom prst="roundRect">
            <a:avLst>
              <a:gd name="adj" fmla="val 50000"/>
            </a:avLst>
          </a:prstGeom>
          <a:solidFill>
            <a:srgbClr val="4EA1FF">
              <a:alpha val="13000"/>
            </a:srgbClr>
          </a:solidFill>
          <a:ln w="10160">
            <a:solidFill>
              <a:srgbClr val="4EA1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738360" y="4233672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4EA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Acquisition</a:t>
            </a:r>
            <a:endParaRPr lang="en-US" sz="720" dirty="0"/>
          </a:p>
        </p:txBody>
      </p:sp>
      <p:sp>
        <p:nvSpPr>
          <p:cNvPr id="45" name="Shape 43"/>
          <p:cNvSpPr/>
          <p:nvPr/>
        </p:nvSpPr>
        <p:spPr>
          <a:xfrm>
            <a:off x="566928" y="4745736"/>
            <a:ext cx="10972800" cy="475488"/>
          </a:xfrm>
          <a:prstGeom prst="roundRect">
            <a:avLst>
              <a:gd name="adj" fmla="val 23077"/>
            </a:avLst>
          </a:prstGeom>
          <a:solidFill>
            <a:srgbClr val="0E1722"/>
          </a:solidFill>
          <a:ln w="12700">
            <a:solidFill>
              <a:srgbClr val="2A394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49808" y="483717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E7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Algorithm boundary</a:t>
            </a:r>
            <a:endParaRPr lang="en-US" sz="820" dirty="0"/>
          </a:p>
        </p:txBody>
      </p:sp>
      <p:sp>
        <p:nvSpPr>
          <p:cNvPr id="47" name="Text 45"/>
          <p:cNvSpPr/>
          <p:nvPr/>
        </p:nvSpPr>
        <p:spPr>
          <a:xfrm>
            <a:off x="2606040" y="4818888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97A8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Detection is a pluggable module; Traditional CV and DL can share the same input protocol.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9738360" y="4855464"/>
            <a:ext cx="1444752" cy="256032"/>
          </a:xfrm>
          <a:prstGeom prst="roundRect">
            <a:avLst>
              <a:gd name="adj" fmla="val 50000"/>
            </a:avLst>
          </a:prstGeom>
          <a:solidFill>
            <a:srgbClr val="F3C86B">
              <a:alpha val="13000"/>
            </a:srgbClr>
          </a:solidFill>
          <a:ln w="10160">
            <a:solidFill>
              <a:srgbClr val="F3C86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738360" y="4864608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3C8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Detector</a:t>
            </a:r>
            <a:endParaRPr lang="en-US" sz="720" dirty="0"/>
          </a:p>
        </p:txBody>
      </p:sp>
      <p:sp>
        <p:nvSpPr>
          <p:cNvPr id="50" name="Shape 48"/>
          <p:cNvSpPr/>
          <p:nvPr/>
        </p:nvSpPr>
        <p:spPr>
          <a:xfrm>
            <a:off x="566928" y="5376672"/>
            <a:ext cx="10972800" cy="475488"/>
          </a:xfrm>
          <a:prstGeom prst="roundRect">
            <a:avLst>
              <a:gd name="adj" fmla="val 23077"/>
            </a:avLst>
          </a:prstGeom>
          <a:solidFill>
            <a:srgbClr val="0E1722"/>
          </a:solidFill>
          <a:ln w="12700">
            <a:solidFill>
              <a:srgbClr val="2A394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49808" y="546811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E7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boundary</a:t>
            </a:r>
            <a:endParaRPr lang="en-US" sz="820" dirty="0"/>
          </a:p>
        </p:txBody>
      </p:sp>
      <p:sp>
        <p:nvSpPr>
          <p:cNvPr id="52" name="Text 50"/>
          <p:cNvSpPr/>
          <p:nvPr/>
        </p:nvSpPr>
        <p:spPr>
          <a:xfrm>
            <a:off x="2606040" y="5449824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97A8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 is emitted as a stable inspection decision, not a raw pixel map.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9738360" y="5486400"/>
            <a:ext cx="1444752" cy="256032"/>
          </a:xfrm>
          <a:prstGeom prst="roundRect">
            <a:avLst>
              <a:gd name="adj" fmla="val 50000"/>
            </a:avLst>
          </a:prstGeom>
          <a:solidFill>
            <a:srgbClr val="66D49C">
              <a:alpha val="13000"/>
            </a:srgbClr>
          </a:solidFill>
          <a:ln w="10160">
            <a:solidFill>
              <a:srgbClr val="66D49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738360" y="5495544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66D4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UI / Result</a:t>
            </a:r>
            <a:endParaRPr lang="en-US" sz="720" dirty="0"/>
          </a:p>
        </p:txBody>
      </p:sp>
      <p:sp>
        <p:nvSpPr>
          <p:cNvPr id="55" name="Text 53"/>
          <p:cNvSpPr/>
          <p:nvPr/>
        </p:nvSpPr>
        <p:spPr>
          <a:xfrm>
            <a:off x="11018520" y="599846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EA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4EA1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80" kern="0" dirty="0">
                <a:solidFill>
                  <a:srgbClr val="56D6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• CURRENT CV PIPELINE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E7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Convert the inspection logic into one deterministic path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25272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7A8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stage has a defined input, transformation, and rejection mechanism.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93776" y="1828800"/>
            <a:ext cx="1481328" cy="1225296"/>
          </a:xfrm>
          <a:prstGeom prst="roundRect">
            <a:avLst>
              <a:gd name="adj" fmla="val 8955"/>
            </a:avLst>
          </a:prstGeom>
          <a:solidFill>
            <a:srgbClr val="121C28"/>
          </a:solidFill>
          <a:ln w="12700">
            <a:solidFill>
              <a:srgbClr val="2A39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93776" y="1828800"/>
            <a:ext cx="1481328" cy="45720"/>
          </a:xfrm>
          <a:prstGeom prst="rect">
            <a:avLst/>
          </a:prstGeom>
          <a:solidFill>
            <a:srgbClr val="4EA1FF"/>
          </a:solidFill>
          <a:ln w="12700">
            <a:solidFill>
              <a:srgbClr val="4EA1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1984248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7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E7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85216" y="2487168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97A8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Light ON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97A8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settle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97A8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97A8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Light OFF</a:t>
            </a:r>
            <a:endParaRPr lang="en-US" sz="780" dirty="0"/>
          </a:p>
        </p:txBody>
      </p:sp>
      <p:sp>
        <p:nvSpPr>
          <p:cNvPr id="9" name="Shape 7"/>
          <p:cNvSpPr/>
          <p:nvPr/>
        </p:nvSpPr>
        <p:spPr>
          <a:xfrm>
            <a:off x="1975104" y="2441448"/>
            <a:ext cx="274320" cy="0"/>
          </a:xfrm>
          <a:prstGeom prst="line">
            <a:avLst/>
          </a:prstGeom>
          <a:noFill/>
          <a:ln w="17780">
            <a:solidFill>
              <a:srgbClr val="4EA1FF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249424" y="1828800"/>
            <a:ext cx="1481328" cy="1225296"/>
          </a:xfrm>
          <a:prstGeom prst="roundRect">
            <a:avLst>
              <a:gd name="adj" fmla="val 8955"/>
            </a:avLst>
          </a:prstGeom>
          <a:solidFill>
            <a:srgbClr val="121C28"/>
          </a:solidFill>
          <a:ln w="12700">
            <a:solidFill>
              <a:srgbClr val="2A39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49424" y="1828800"/>
            <a:ext cx="1481328" cy="45720"/>
          </a:xfrm>
          <a:prstGeom prst="rect">
            <a:avLst/>
          </a:prstGeom>
          <a:solidFill>
            <a:srgbClr val="56D6E8"/>
          </a:solidFill>
          <a:ln w="12700">
            <a:solidFill>
              <a:srgbClr val="56D6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40864" y="1984248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7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CLAHE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340864" y="2487168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97A8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97A8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contrast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97A8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enhancement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3730752" y="2441448"/>
            <a:ext cx="274320" cy="0"/>
          </a:xfrm>
          <a:prstGeom prst="line">
            <a:avLst/>
          </a:prstGeom>
          <a:noFill/>
          <a:ln w="17780">
            <a:solidFill>
              <a:srgbClr val="4EA1FF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005072" y="1828800"/>
            <a:ext cx="1481328" cy="1225296"/>
          </a:xfrm>
          <a:prstGeom prst="roundRect">
            <a:avLst>
              <a:gd name="adj" fmla="val 8955"/>
            </a:avLst>
          </a:prstGeom>
          <a:solidFill>
            <a:srgbClr val="121C28"/>
          </a:solidFill>
          <a:ln w="12700">
            <a:solidFill>
              <a:srgbClr val="2A39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005072" y="1828800"/>
            <a:ext cx="1481328" cy="45720"/>
          </a:xfrm>
          <a:prstGeom prst="rect">
            <a:avLst/>
          </a:prstGeom>
          <a:solidFill>
            <a:srgbClr val="66D49C"/>
          </a:solidFill>
          <a:ln w="12700">
            <a:solidFill>
              <a:srgbClr val="66D49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96512" y="1984248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7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ROI 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E7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BORDER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096512" y="2487168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97A8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Canny / adaptive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97A8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threshold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97A8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erosion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5486400" y="2441448"/>
            <a:ext cx="274320" cy="0"/>
          </a:xfrm>
          <a:prstGeom prst="line">
            <a:avLst/>
          </a:prstGeom>
          <a:noFill/>
          <a:ln w="17780">
            <a:solidFill>
              <a:srgbClr val="4EA1FF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760720" y="1828800"/>
            <a:ext cx="1481328" cy="1225296"/>
          </a:xfrm>
          <a:prstGeom prst="roundRect">
            <a:avLst>
              <a:gd name="adj" fmla="val 8955"/>
            </a:avLst>
          </a:prstGeom>
          <a:solidFill>
            <a:srgbClr val="121C28"/>
          </a:solidFill>
          <a:ln w="12700">
            <a:solidFill>
              <a:srgbClr val="2A39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760720" y="1828800"/>
            <a:ext cx="1481328" cy="45720"/>
          </a:xfrm>
          <a:prstGeom prst="rect">
            <a:avLst/>
          </a:prstGeom>
          <a:solidFill>
            <a:srgbClr val="F3C86B"/>
          </a:solidFill>
          <a:ln w="12700">
            <a:solidFill>
              <a:srgbClr val="F3C8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52160" y="1984248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7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LAPLACIAN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852160" y="2487168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97A8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2nd derivative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97A8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|response|</a:t>
            </a:r>
            <a:endParaRPr lang="en-US" sz="780" dirty="0"/>
          </a:p>
        </p:txBody>
      </p:sp>
      <p:sp>
        <p:nvSpPr>
          <p:cNvPr id="24" name="Shape 22"/>
          <p:cNvSpPr/>
          <p:nvPr/>
        </p:nvSpPr>
        <p:spPr>
          <a:xfrm>
            <a:off x="7242048" y="2441448"/>
            <a:ext cx="274320" cy="0"/>
          </a:xfrm>
          <a:prstGeom prst="line">
            <a:avLst/>
          </a:prstGeom>
          <a:noFill/>
          <a:ln w="17780">
            <a:solidFill>
              <a:srgbClr val="4EA1FF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516368" y="1828800"/>
            <a:ext cx="1481328" cy="1225296"/>
          </a:xfrm>
          <a:prstGeom prst="roundRect">
            <a:avLst>
              <a:gd name="adj" fmla="val 8955"/>
            </a:avLst>
          </a:prstGeom>
          <a:solidFill>
            <a:srgbClr val="121C28"/>
          </a:solidFill>
          <a:ln w="12700">
            <a:solidFill>
              <a:srgbClr val="2A394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16368" y="1828800"/>
            <a:ext cx="1481328" cy="45720"/>
          </a:xfrm>
          <a:prstGeom prst="rect">
            <a:avLst/>
          </a:prstGeom>
          <a:solidFill>
            <a:srgbClr val="FF6B7A"/>
          </a:solidFill>
          <a:ln w="12700">
            <a:solidFill>
              <a:srgbClr val="FF6B7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07808" y="1984248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7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E7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THRESHOLD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607808" y="2487168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97A8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μlocal + k·σlocal</a:t>
            </a:r>
            <a:endParaRPr lang="en-US" sz="780" dirty="0"/>
          </a:p>
        </p:txBody>
      </p:sp>
      <p:sp>
        <p:nvSpPr>
          <p:cNvPr id="29" name="Shape 27"/>
          <p:cNvSpPr/>
          <p:nvPr/>
        </p:nvSpPr>
        <p:spPr>
          <a:xfrm>
            <a:off x="8997696" y="2441448"/>
            <a:ext cx="274320" cy="0"/>
          </a:xfrm>
          <a:prstGeom prst="line">
            <a:avLst/>
          </a:prstGeom>
          <a:noFill/>
          <a:ln w="17780">
            <a:solidFill>
              <a:srgbClr val="4EA1FF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272016" y="1828800"/>
            <a:ext cx="1481328" cy="1225296"/>
          </a:xfrm>
          <a:prstGeom prst="roundRect">
            <a:avLst>
              <a:gd name="adj" fmla="val 8955"/>
            </a:avLst>
          </a:prstGeom>
          <a:solidFill>
            <a:srgbClr val="121C28"/>
          </a:solidFill>
          <a:ln w="12700">
            <a:solidFill>
              <a:srgbClr val="2A394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272016" y="1828800"/>
            <a:ext cx="1481328" cy="45720"/>
          </a:xfrm>
          <a:prstGeom prst="rect">
            <a:avLst/>
          </a:prstGeom>
          <a:solidFill>
            <a:srgbClr val="4EA1FF"/>
          </a:solidFill>
          <a:ln w="12700">
            <a:solidFill>
              <a:srgbClr val="4EA1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363456" y="1984248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7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SPATIAL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E7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OUTLIER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363456" y="2487168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97A8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centroid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97A8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neighbor count</a:t>
            </a:r>
            <a:endParaRPr lang="en-US" sz="780" dirty="0"/>
          </a:p>
        </p:txBody>
      </p:sp>
      <p:sp>
        <p:nvSpPr>
          <p:cNvPr id="34" name="Shape 32"/>
          <p:cNvSpPr/>
          <p:nvPr/>
        </p:nvSpPr>
        <p:spPr>
          <a:xfrm>
            <a:off x="10753344" y="2441448"/>
            <a:ext cx="274320" cy="0"/>
          </a:xfrm>
          <a:prstGeom prst="line">
            <a:avLst/>
          </a:prstGeom>
          <a:noFill/>
          <a:ln w="17780">
            <a:solidFill>
              <a:srgbClr val="4EA1FF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11027664" y="1828800"/>
            <a:ext cx="1481328" cy="1225296"/>
          </a:xfrm>
          <a:prstGeom prst="roundRect">
            <a:avLst>
              <a:gd name="adj" fmla="val 8955"/>
            </a:avLst>
          </a:prstGeom>
          <a:solidFill>
            <a:srgbClr val="121C28"/>
          </a:solidFill>
          <a:ln w="12700">
            <a:solidFill>
              <a:srgbClr val="2A394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027664" y="1828800"/>
            <a:ext cx="1481328" cy="45720"/>
          </a:xfrm>
          <a:prstGeom prst="rect">
            <a:avLst/>
          </a:prstGeom>
          <a:solidFill>
            <a:srgbClr val="66D49C"/>
          </a:solidFill>
          <a:ln w="12700">
            <a:solidFill>
              <a:srgbClr val="66D49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1119104" y="1984248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7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TEMPORAL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E7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PERSISTENCE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119104" y="2487168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97A8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rolling mask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97A8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≥ hit rule</a:t>
            </a:r>
            <a:endParaRPr lang="en-US" sz="780" dirty="0"/>
          </a:p>
        </p:txBody>
      </p:sp>
      <p:sp>
        <p:nvSpPr>
          <p:cNvPr id="39" name="Text 37"/>
          <p:cNvSpPr/>
          <p:nvPr/>
        </p:nvSpPr>
        <p:spPr>
          <a:xfrm>
            <a:off x="566928" y="341071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80" kern="0" dirty="0">
                <a:solidFill>
                  <a:srgbClr val="56D6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PARAMETER → PHYSICAL / ALGORITHMIC EFFECT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566928" y="3730752"/>
            <a:ext cx="5321808" cy="530352"/>
          </a:xfrm>
          <a:prstGeom prst="roundRect">
            <a:avLst>
              <a:gd name="adj" fmla="val 20690"/>
            </a:avLst>
          </a:prstGeom>
          <a:solidFill>
            <a:srgbClr val="0E1722"/>
          </a:solidFill>
          <a:ln w="12700">
            <a:solidFill>
              <a:srgbClr val="2A39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3232" y="382219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7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CLAHE grid / clip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2267712" y="3822192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56D6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contrast scale</a:t>
            </a:r>
            <a:endParaRPr lang="en-US" sz="760" dirty="0"/>
          </a:p>
        </p:txBody>
      </p:sp>
      <p:sp>
        <p:nvSpPr>
          <p:cNvPr id="43" name="Text 41"/>
          <p:cNvSpPr/>
          <p:nvPr/>
        </p:nvSpPr>
        <p:spPr>
          <a:xfrm>
            <a:off x="3904488" y="3803904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97A8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 local → texture amplification</a:t>
            </a:r>
            <a:endParaRPr lang="en-US" sz="720" dirty="0"/>
          </a:p>
        </p:txBody>
      </p:sp>
      <p:sp>
        <p:nvSpPr>
          <p:cNvPr id="44" name="Shape 42"/>
          <p:cNvSpPr/>
          <p:nvPr/>
        </p:nvSpPr>
        <p:spPr>
          <a:xfrm>
            <a:off x="6144768" y="3730752"/>
            <a:ext cx="5321808" cy="530352"/>
          </a:xfrm>
          <a:prstGeom prst="roundRect">
            <a:avLst>
              <a:gd name="adj" fmla="val 20690"/>
            </a:avLst>
          </a:prstGeom>
          <a:solidFill>
            <a:srgbClr val="0E1722"/>
          </a:solidFill>
          <a:ln w="12700">
            <a:solidFill>
              <a:srgbClr val="2A394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91072" y="382219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7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Laplacian ksize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845552" y="3822192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56D6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micro-detail scale</a:t>
            </a:r>
            <a:endParaRPr lang="en-US" sz="760" dirty="0"/>
          </a:p>
        </p:txBody>
      </p:sp>
      <p:sp>
        <p:nvSpPr>
          <p:cNvPr id="47" name="Text 45"/>
          <p:cNvSpPr/>
          <p:nvPr/>
        </p:nvSpPr>
        <p:spPr>
          <a:xfrm>
            <a:off x="9482328" y="3803904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97A8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1/3/5/7 → detail vs robustness</a:t>
            </a:r>
            <a:endParaRPr lang="en-US" sz="720" dirty="0"/>
          </a:p>
        </p:txBody>
      </p:sp>
      <p:sp>
        <p:nvSpPr>
          <p:cNvPr id="48" name="Shape 46"/>
          <p:cNvSpPr/>
          <p:nvPr/>
        </p:nvSpPr>
        <p:spPr>
          <a:xfrm>
            <a:off x="566928" y="4407408"/>
            <a:ext cx="5321808" cy="530352"/>
          </a:xfrm>
          <a:prstGeom prst="roundRect">
            <a:avLst>
              <a:gd name="adj" fmla="val 20690"/>
            </a:avLst>
          </a:prstGeom>
          <a:solidFill>
            <a:srgbClr val="0E1722"/>
          </a:solidFill>
          <a:ln w="12700">
            <a:solidFill>
              <a:srgbClr val="2A394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13232" y="449884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7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 × σ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2267712" y="4498848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56D6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detection sensitivity</a:t>
            </a:r>
            <a:endParaRPr lang="en-US" sz="760" dirty="0"/>
          </a:p>
        </p:txBody>
      </p:sp>
      <p:sp>
        <p:nvSpPr>
          <p:cNvPr id="51" name="Text 49"/>
          <p:cNvSpPr/>
          <p:nvPr/>
        </p:nvSpPr>
        <p:spPr>
          <a:xfrm>
            <a:off x="3904488" y="4480560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97A8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lower → more candidates + more noise</a:t>
            </a:r>
            <a:endParaRPr lang="en-US" sz="720" dirty="0"/>
          </a:p>
        </p:txBody>
      </p:sp>
      <p:sp>
        <p:nvSpPr>
          <p:cNvPr id="52" name="Shape 50"/>
          <p:cNvSpPr/>
          <p:nvPr/>
        </p:nvSpPr>
        <p:spPr>
          <a:xfrm>
            <a:off x="6144768" y="4407408"/>
            <a:ext cx="5321808" cy="530352"/>
          </a:xfrm>
          <a:prstGeom prst="roundRect">
            <a:avLst>
              <a:gd name="adj" fmla="val 20690"/>
            </a:avLst>
          </a:prstGeom>
          <a:solidFill>
            <a:srgbClr val="0E1722"/>
          </a:solidFill>
          <a:ln w="12700">
            <a:solidFill>
              <a:srgbClr val="2A394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291072" y="449884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7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ROI erosion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7845552" y="4498848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56D6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border exclusion</a:t>
            </a:r>
            <a:endParaRPr lang="en-US" sz="760" dirty="0"/>
          </a:p>
        </p:txBody>
      </p:sp>
      <p:sp>
        <p:nvSpPr>
          <p:cNvPr id="55" name="Text 53"/>
          <p:cNvSpPr/>
          <p:nvPr/>
        </p:nvSpPr>
        <p:spPr>
          <a:xfrm>
            <a:off x="9482328" y="4480560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97A8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 structural edges</a:t>
            </a:r>
            <a:endParaRPr lang="en-US" sz="720" dirty="0"/>
          </a:p>
        </p:txBody>
      </p:sp>
      <p:sp>
        <p:nvSpPr>
          <p:cNvPr id="56" name="Shape 54"/>
          <p:cNvSpPr/>
          <p:nvPr/>
        </p:nvSpPr>
        <p:spPr>
          <a:xfrm>
            <a:off x="566928" y="5084064"/>
            <a:ext cx="5321808" cy="530352"/>
          </a:xfrm>
          <a:prstGeom prst="roundRect">
            <a:avLst>
              <a:gd name="adj" fmla="val 20690"/>
            </a:avLst>
          </a:prstGeom>
          <a:solidFill>
            <a:srgbClr val="0E1722"/>
          </a:solidFill>
          <a:ln w="12700">
            <a:solidFill>
              <a:srgbClr val="2A394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13232" y="5175504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7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Neighborhood radius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2267712" y="5175504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56D6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physical search area</a:t>
            </a:r>
            <a:endParaRPr lang="en-US" sz="760" dirty="0"/>
          </a:p>
        </p:txBody>
      </p:sp>
      <p:sp>
        <p:nvSpPr>
          <p:cNvPr id="59" name="Text 57"/>
          <p:cNvSpPr/>
          <p:nvPr/>
        </p:nvSpPr>
        <p:spPr>
          <a:xfrm>
            <a:off x="3904488" y="5157216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97A8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 to calibrated pixel / mm</a:t>
            </a:r>
            <a:endParaRPr lang="en-US" sz="720" dirty="0"/>
          </a:p>
        </p:txBody>
      </p:sp>
      <p:sp>
        <p:nvSpPr>
          <p:cNvPr id="60" name="Shape 58"/>
          <p:cNvSpPr/>
          <p:nvPr/>
        </p:nvSpPr>
        <p:spPr>
          <a:xfrm>
            <a:off x="6144768" y="5084064"/>
            <a:ext cx="5321808" cy="530352"/>
          </a:xfrm>
          <a:prstGeom prst="roundRect">
            <a:avLst>
              <a:gd name="adj" fmla="val 20690"/>
            </a:avLst>
          </a:prstGeom>
          <a:solidFill>
            <a:srgbClr val="0E1722"/>
          </a:solidFill>
          <a:ln w="12700">
            <a:solidFill>
              <a:srgbClr val="2A394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291072" y="5175504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7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Persistence frames / hits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7845552" y="5175504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56D6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temporal stability</a:t>
            </a:r>
            <a:endParaRPr lang="en-US" sz="760" dirty="0"/>
          </a:p>
        </p:txBody>
      </p:sp>
      <p:sp>
        <p:nvSpPr>
          <p:cNvPr id="63" name="Text 61"/>
          <p:cNvSpPr/>
          <p:nvPr/>
        </p:nvSpPr>
        <p:spPr>
          <a:xfrm>
            <a:off x="9482328" y="5157216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97A8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reject transient flicker</a:t>
            </a:r>
            <a:endParaRPr lang="en-US" sz="720" dirty="0"/>
          </a:p>
        </p:txBody>
      </p:sp>
      <p:sp>
        <p:nvSpPr>
          <p:cNvPr id="64" name="Shape 62"/>
          <p:cNvSpPr/>
          <p:nvPr/>
        </p:nvSpPr>
        <p:spPr>
          <a:xfrm>
            <a:off x="566928" y="5760720"/>
            <a:ext cx="10972800" cy="411480"/>
          </a:xfrm>
          <a:prstGeom prst="roundRect">
            <a:avLst>
              <a:gd name="adj" fmla="val 26667"/>
            </a:avLst>
          </a:prstGeom>
          <a:solidFill>
            <a:srgbClr val="121C28"/>
          </a:solidFill>
          <a:ln w="12700">
            <a:solidFill>
              <a:srgbClr val="4EA1F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49808" y="5870448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56D6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OUTPUT</a:t>
            </a:r>
            <a:endParaRPr lang="en-US" sz="740" dirty="0"/>
          </a:p>
        </p:txBody>
      </p:sp>
      <p:sp>
        <p:nvSpPr>
          <p:cNvPr id="66" name="Text 64"/>
          <p:cNvSpPr/>
          <p:nvPr/>
        </p:nvSpPr>
        <p:spPr>
          <a:xfrm>
            <a:off x="1965960" y="5852160"/>
            <a:ext cx="9052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E7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stable candidate map → PASS / FAIL; one-frame blips are rejected</a:t>
            </a:r>
            <a:endParaRPr lang="en-US" sz="860" dirty="0"/>
          </a:p>
        </p:txBody>
      </p:sp>
      <p:sp>
        <p:nvSpPr>
          <p:cNvPr id="67" name="Text 65"/>
          <p:cNvSpPr/>
          <p:nvPr/>
        </p:nvSpPr>
        <p:spPr>
          <a:xfrm>
            <a:off x="11018520" y="599846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EA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4EA1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80" kern="0" dirty="0">
                <a:solidFill>
                  <a:srgbClr val="56D6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• DEVELOPMENT OPTIONS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E7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 staged decision tree, not a leap to a new stack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25272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7A8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Exhaust interpretable CV improvements first; benchmark learned approaches on the same controlled capture protocol.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66928" y="1847088"/>
            <a:ext cx="3547872" cy="3611880"/>
          </a:xfrm>
          <a:prstGeom prst="roundRect">
            <a:avLst>
              <a:gd name="adj" fmla="val 3093"/>
            </a:avLst>
          </a:prstGeom>
          <a:solidFill>
            <a:srgbClr val="121C28"/>
          </a:solidFill>
          <a:ln w="12700">
            <a:solidFill>
              <a:srgbClr val="4EA1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" y="2057400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4EA1FF">
              <a:alpha val="13000"/>
            </a:srgbClr>
          </a:solidFill>
          <a:ln w="10160">
            <a:solidFill>
              <a:srgbClr val="4EA1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206654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4EA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PATH 1 • CURRENT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786384" y="246888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7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Traditional CV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04672" y="2971800"/>
            <a:ext cx="100584" cy="100584"/>
          </a:xfrm>
          <a:prstGeom prst="ellipse">
            <a:avLst/>
          </a:prstGeom>
          <a:solidFill>
            <a:srgbClr val="4EA1FF"/>
          </a:solidFill>
          <a:ln w="12700">
            <a:solidFill>
              <a:srgbClr val="4EA1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88036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7A8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Deterministic + tunable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04672" y="3447288"/>
            <a:ext cx="100584" cy="100584"/>
          </a:xfrm>
          <a:prstGeom prst="ellipse">
            <a:avLst/>
          </a:prstGeom>
          <a:solidFill>
            <a:srgbClr val="4EA1FF"/>
          </a:solidFill>
          <a:ln w="12700">
            <a:solidFill>
              <a:srgbClr val="4EA1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35584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7A8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 data requirement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04672" y="3922776"/>
            <a:ext cx="100584" cy="100584"/>
          </a:xfrm>
          <a:prstGeom prst="ellipse">
            <a:avLst/>
          </a:prstGeom>
          <a:solidFill>
            <a:srgbClr val="4EA1FF"/>
          </a:solidFill>
          <a:ln w="12700">
            <a:solidFill>
              <a:srgbClr val="4EA1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83133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7A8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 iteration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04672" y="4398264"/>
            <a:ext cx="100584" cy="100584"/>
          </a:xfrm>
          <a:prstGeom prst="ellipse">
            <a:avLst/>
          </a:prstGeom>
          <a:solidFill>
            <a:srgbClr val="4EA1FF"/>
          </a:solidFill>
          <a:ln w="12700">
            <a:solidFill>
              <a:srgbClr val="4EA1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430682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7A8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 parameter ↔ physics mapping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86384" y="4882896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F3C8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Fallback trigger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786384" y="510235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97A8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Rule-based features cannot reach required robustness.</a:t>
            </a:r>
            <a:endParaRPr lang="en-US" sz="840" dirty="0"/>
          </a:p>
        </p:txBody>
      </p:sp>
      <p:sp>
        <p:nvSpPr>
          <p:cNvPr id="19" name="Shape 17"/>
          <p:cNvSpPr/>
          <p:nvPr/>
        </p:nvSpPr>
        <p:spPr>
          <a:xfrm>
            <a:off x="4370832" y="1847088"/>
            <a:ext cx="3547872" cy="3611880"/>
          </a:xfrm>
          <a:prstGeom prst="roundRect">
            <a:avLst>
              <a:gd name="adj" fmla="val 3093"/>
            </a:avLst>
          </a:prstGeom>
          <a:solidFill>
            <a:srgbClr val="121C28"/>
          </a:solidFill>
          <a:ln w="12700">
            <a:solidFill>
              <a:srgbClr val="2A39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90288" y="2057400"/>
            <a:ext cx="1389888" cy="256032"/>
          </a:xfrm>
          <a:prstGeom prst="roundRect">
            <a:avLst>
              <a:gd name="adj" fmla="val 50000"/>
            </a:avLst>
          </a:prstGeom>
          <a:solidFill>
            <a:srgbClr val="F3C86B">
              <a:alpha val="13000"/>
            </a:srgbClr>
          </a:solidFill>
          <a:ln w="10160">
            <a:solidFill>
              <a:srgbClr val="F3C8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90288" y="2066544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3C8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PATH 2 • FUTURE</a:t>
            </a:r>
            <a:endParaRPr lang="en-US" sz="720" dirty="0"/>
          </a:p>
        </p:txBody>
      </p:sp>
      <p:sp>
        <p:nvSpPr>
          <p:cNvPr id="22" name="Text 20"/>
          <p:cNvSpPr/>
          <p:nvPr/>
        </p:nvSpPr>
        <p:spPr>
          <a:xfrm>
            <a:off x="4590288" y="246888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7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Deep Learning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608576" y="2971800"/>
            <a:ext cx="100584" cy="100584"/>
          </a:xfrm>
          <a:prstGeom prst="ellipse">
            <a:avLst/>
          </a:prstGeom>
          <a:solidFill>
            <a:srgbClr val="F3C86B"/>
          </a:solidFill>
          <a:ln w="12700">
            <a:solidFill>
              <a:srgbClr val="F3C8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9744" y="288036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7A8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Controlled images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08576" y="3447288"/>
            <a:ext cx="100584" cy="100584"/>
          </a:xfrm>
          <a:prstGeom prst="ellipse">
            <a:avLst/>
          </a:prstGeom>
          <a:solidFill>
            <a:srgbClr val="F3C86B"/>
          </a:solidFill>
          <a:ln w="12700">
            <a:solidFill>
              <a:srgbClr val="F3C8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9744" y="335584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7A8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Phone / glass segmentation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08576" y="3922776"/>
            <a:ext cx="100584" cy="100584"/>
          </a:xfrm>
          <a:prstGeom prst="ellipse">
            <a:avLst/>
          </a:prstGeom>
          <a:solidFill>
            <a:srgbClr val="F3C86B"/>
          </a:solidFill>
          <a:ln w="12700">
            <a:solidFill>
              <a:srgbClr val="F3C8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9744" y="383133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7A8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Dent / Scratch / OK detection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08576" y="4398264"/>
            <a:ext cx="100584" cy="100584"/>
          </a:xfrm>
          <a:prstGeom prst="ellipse">
            <a:avLst/>
          </a:prstGeom>
          <a:solidFill>
            <a:srgbClr val="F3C86B"/>
          </a:solidFill>
          <a:ln w="12700">
            <a:solidFill>
              <a:srgbClr val="F3C86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9744" y="430682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7A8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Needs labeled data + validation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90288" y="4882896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F3C8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role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4590288" y="510235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97A8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 complex appearance variation after the capture protocol is fixed.</a:t>
            </a:r>
            <a:endParaRPr lang="en-US" sz="840" dirty="0"/>
          </a:p>
        </p:txBody>
      </p:sp>
      <p:sp>
        <p:nvSpPr>
          <p:cNvPr id="33" name="Shape 31"/>
          <p:cNvSpPr/>
          <p:nvPr/>
        </p:nvSpPr>
        <p:spPr>
          <a:xfrm>
            <a:off x="8174736" y="1847088"/>
            <a:ext cx="3547872" cy="3611880"/>
          </a:xfrm>
          <a:prstGeom prst="roundRect">
            <a:avLst>
              <a:gd name="adj" fmla="val 3093"/>
            </a:avLst>
          </a:prstGeom>
          <a:solidFill>
            <a:srgbClr val="121C28"/>
          </a:solidFill>
          <a:ln w="12700">
            <a:solidFill>
              <a:srgbClr val="2A394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394192" y="2057400"/>
            <a:ext cx="1481328" cy="256032"/>
          </a:xfrm>
          <a:prstGeom prst="roundRect">
            <a:avLst>
              <a:gd name="adj" fmla="val 50000"/>
            </a:avLst>
          </a:prstGeom>
          <a:solidFill>
            <a:srgbClr val="66D49C">
              <a:alpha val="13000"/>
            </a:srgbClr>
          </a:solidFill>
          <a:ln w="10160">
            <a:solidFill>
              <a:srgbClr val="66D49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94192" y="2066544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66D4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PATH 3 • HYBRID</a:t>
            </a:r>
            <a:endParaRPr lang="en-US" sz="720" dirty="0"/>
          </a:p>
        </p:txBody>
      </p:sp>
      <p:sp>
        <p:nvSpPr>
          <p:cNvPr id="36" name="Text 34"/>
          <p:cNvSpPr/>
          <p:nvPr/>
        </p:nvSpPr>
        <p:spPr>
          <a:xfrm>
            <a:off x="8394192" y="246888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7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CV + Deep Learning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8412480" y="2971800"/>
            <a:ext cx="100584" cy="100584"/>
          </a:xfrm>
          <a:prstGeom prst="ellipse">
            <a:avLst/>
          </a:prstGeom>
          <a:solidFill>
            <a:srgbClr val="66D49C"/>
          </a:solidFill>
          <a:ln w="12700">
            <a:solidFill>
              <a:srgbClr val="66D49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613648" y="288036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7A8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RGB / grayscale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412480" y="3447288"/>
            <a:ext cx="100584" cy="100584"/>
          </a:xfrm>
          <a:prstGeom prst="ellipse">
            <a:avLst/>
          </a:prstGeom>
          <a:solidFill>
            <a:srgbClr val="66D49C"/>
          </a:solidFill>
          <a:ln w="12700">
            <a:solidFill>
              <a:srgbClr val="66D49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613648" y="335584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7A8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CLAHE + Laplacian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8412480" y="3922776"/>
            <a:ext cx="100584" cy="100584"/>
          </a:xfrm>
          <a:prstGeom prst="ellipse">
            <a:avLst/>
          </a:prstGeom>
          <a:solidFill>
            <a:srgbClr val="66D49C"/>
          </a:solidFill>
          <a:ln w="12700">
            <a:solidFill>
              <a:srgbClr val="66D49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613648" y="383133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7A8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statistics + ROI masks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8412480" y="4398264"/>
            <a:ext cx="100584" cy="100584"/>
          </a:xfrm>
          <a:prstGeom prst="ellipse">
            <a:avLst/>
          </a:prstGeom>
          <a:solidFill>
            <a:srgbClr val="66D49C"/>
          </a:solidFill>
          <a:ln w="12700">
            <a:solidFill>
              <a:srgbClr val="66D49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613648" y="430682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7A8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Spatial density + persistence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394192" y="4882896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66D4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input</a:t>
            </a:r>
            <a:endParaRPr lang="en-US" sz="740" dirty="0"/>
          </a:p>
        </p:txBody>
      </p:sp>
      <p:sp>
        <p:nvSpPr>
          <p:cNvPr id="46" name="Text 44"/>
          <p:cNvSpPr/>
          <p:nvPr/>
        </p:nvSpPr>
        <p:spPr>
          <a:xfrm>
            <a:off x="8394192" y="510235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97A8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Engineered feature space + original appearance → learned decision.</a:t>
            </a:r>
            <a:endParaRPr lang="en-US" sz="840" dirty="0"/>
          </a:p>
        </p:txBody>
      </p:sp>
      <p:sp>
        <p:nvSpPr>
          <p:cNvPr id="47" name="Shape 45"/>
          <p:cNvSpPr/>
          <p:nvPr/>
        </p:nvSpPr>
        <p:spPr>
          <a:xfrm>
            <a:off x="4069080" y="3246120"/>
            <a:ext cx="283464" cy="0"/>
          </a:xfrm>
          <a:prstGeom prst="line">
            <a:avLst/>
          </a:prstGeom>
          <a:noFill/>
          <a:ln w="25400">
            <a:solidFill>
              <a:srgbClr val="4EA1FF"/>
            </a:solidFill>
            <a:prstDash val="solid"/>
            <a:headEnd type="none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7836408" y="3246120"/>
            <a:ext cx="301752" cy="0"/>
          </a:xfrm>
          <a:prstGeom prst="line">
            <a:avLst/>
          </a:prstGeom>
          <a:noFill/>
          <a:ln w="25400">
            <a:solidFill>
              <a:srgbClr val="4EA1FF"/>
            </a:solidFill>
            <a:prstDash val="solid"/>
            <a:headEnd type="none"/>
            <a:tailEnd type="triangle"/>
          </a:ln>
        </p:spPr>
      </p:sp>
      <p:sp>
        <p:nvSpPr>
          <p:cNvPr id="49" name="Text 47"/>
          <p:cNvSpPr/>
          <p:nvPr/>
        </p:nvSpPr>
        <p:spPr>
          <a:xfrm>
            <a:off x="566928" y="5641848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80" kern="0" dirty="0">
                <a:solidFill>
                  <a:srgbClr val="56D6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ON IDENTICAL PRODUCTION CRITERIA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566928" y="5897880"/>
            <a:ext cx="2011680" cy="256032"/>
          </a:xfrm>
          <a:prstGeom prst="roundRect">
            <a:avLst>
              <a:gd name="adj" fmla="val 50000"/>
            </a:avLst>
          </a:prstGeom>
          <a:solidFill>
            <a:srgbClr val="56D6E8">
              <a:alpha val="13000"/>
            </a:srgbClr>
          </a:solidFill>
          <a:ln w="10160">
            <a:solidFill>
              <a:srgbClr val="56D6E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66928" y="590702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56D6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Detection rate</a:t>
            </a:r>
            <a:endParaRPr lang="en-US" sz="720" dirty="0"/>
          </a:p>
        </p:txBody>
      </p:sp>
      <p:sp>
        <p:nvSpPr>
          <p:cNvPr id="52" name="Shape 50"/>
          <p:cNvSpPr/>
          <p:nvPr/>
        </p:nvSpPr>
        <p:spPr>
          <a:xfrm>
            <a:off x="2752344" y="5897880"/>
            <a:ext cx="2011680" cy="256032"/>
          </a:xfrm>
          <a:prstGeom prst="roundRect">
            <a:avLst>
              <a:gd name="adj" fmla="val 50000"/>
            </a:avLst>
          </a:prstGeom>
          <a:solidFill>
            <a:srgbClr val="4EA1FF">
              <a:alpha val="13000"/>
            </a:srgbClr>
          </a:solidFill>
          <a:ln w="10160">
            <a:solidFill>
              <a:srgbClr val="4EA1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752344" y="590702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4EA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False-positive rate</a:t>
            </a:r>
            <a:endParaRPr lang="en-US" sz="720" dirty="0"/>
          </a:p>
        </p:txBody>
      </p:sp>
      <p:sp>
        <p:nvSpPr>
          <p:cNvPr id="54" name="Shape 52"/>
          <p:cNvSpPr/>
          <p:nvPr/>
        </p:nvSpPr>
        <p:spPr>
          <a:xfrm>
            <a:off x="4937760" y="5897880"/>
            <a:ext cx="2011680" cy="256032"/>
          </a:xfrm>
          <a:prstGeom prst="roundRect">
            <a:avLst>
              <a:gd name="adj" fmla="val 50000"/>
            </a:avLst>
          </a:prstGeom>
          <a:solidFill>
            <a:srgbClr val="56D6E8">
              <a:alpha val="13000"/>
            </a:srgbClr>
          </a:solidFill>
          <a:ln w="10160">
            <a:solidFill>
              <a:srgbClr val="56D6E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937760" y="590702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56D6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Minimum detectable defect</a:t>
            </a:r>
            <a:endParaRPr lang="en-US" sz="720" dirty="0"/>
          </a:p>
        </p:txBody>
      </p:sp>
      <p:sp>
        <p:nvSpPr>
          <p:cNvPr id="56" name="Shape 54"/>
          <p:cNvSpPr/>
          <p:nvPr/>
        </p:nvSpPr>
        <p:spPr>
          <a:xfrm>
            <a:off x="7123176" y="5897880"/>
            <a:ext cx="2011680" cy="256032"/>
          </a:xfrm>
          <a:prstGeom prst="roundRect">
            <a:avLst>
              <a:gd name="adj" fmla="val 50000"/>
            </a:avLst>
          </a:prstGeom>
          <a:solidFill>
            <a:srgbClr val="4EA1FF">
              <a:alpha val="13000"/>
            </a:srgbClr>
          </a:solidFill>
          <a:ln w="10160">
            <a:solidFill>
              <a:srgbClr val="4EA1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123176" y="590702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4EA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Processing time</a:t>
            </a:r>
            <a:endParaRPr lang="en-US" sz="720" dirty="0"/>
          </a:p>
        </p:txBody>
      </p:sp>
      <p:sp>
        <p:nvSpPr>
          <p:cNvPr id="58" name="Shape 56"/>
          <p:cNvSpPr/>
          <p:nvPr/>
        </p:nvSpPr>
        <p:spPr>
          <a:xfrm>
            <a:off x="9308592" y="5897880"/>
            <a:ext cx="2011680" cy="256032"/>
          </a:xfrm>
          <a:prstGeom prst="roundRect">
            <a:avLst>
              <a:gd name="adj" fmla="val 50000"/>
            </a:avLst>
          </a:prstGeom>
          <a:solidFill>
            <a:srgbClr val="56D6E8">
              <a:alpha val="13000"/>
            </a:srgbClr>
          </a:solidFill>
          <a:ln w="10160">
            <a:solidFill>
              <a:srgbClr val="56D6E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308592" y="590702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56D6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Frame stability</a:t>
            </a:r>
            <a:endParaRPr lang="en-US" sz="720" dirty="0"/>
          </a:p>
        </p:txBody>
      </p:sp>
      <p:sp>
        <p:nvSpPr>
          <p:cNvPr id="60" name="Text 58"/>
          <p:cNvSpPr/>
          <p:nvPr/>
        </p:nvSpPr>
        <p:spPr>
          <a:xfrm>
            <a:off x="11018520" y="599846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EA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4EA1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80" kern="0" dirty="0">
                <a:solidFill>
                  <a:srgbClr val="56D6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• VALIDATION &amp; NEXT STEPS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E7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the prototype into a measurable inspection system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25272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7A8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must be tied to known defect size, location, capture repeatability, cycle time, and stable PASS / FAIL behavior.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66928" y="1883664"/>
            <a:ext cx="1965960" cy="1371600"/>
          </a:xfrm>
          <a:prstGeom prst="roundRect">
            <a:avLst>
              <a:gd name="adj" fmla="val 8000"/>
            </a:avLst>
          </a:prstGeom>
          <a:solidFill>
            <a:srgbClr val="121C28"/>
          </a:solidFill>
          <a:ln w="12700">
            <a:solidFill>
              <a:srgbClr val="2A39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2029968"/>
            <a:ext cx="393192" cy="393192"/>
          </a:xfrm>
          <a:prstGeom prst="ellipse">
            <a:avLst/>
          </a:prstGeom>
          <a:solidFill>
            <a:srgbClr val="4EA1FF"/>
          </a:solidFill>
          <a:ln w="12700">
            <a:solidFill>
              <a:srgbClr val="4EA1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2029968"/>
            <a:ext cx="3931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1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225296" y="202996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E7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DEFECT SET</a:t>
            </a:r>
            <a:endParaRPr lang="en-US" sz="860" dirty="0"/>
          </a:p>
        </p:txBody>
      </p:sp>
      <p:sp>
        <p:nvSpPr>
          <p:cNvPr id="9" name="Text 7"/>
          <p:cNvSpPr/>
          <p:nvPr/>
        </p:nvSpPr>
        <p:spPr>
          <a:xfrm>
            <a:off x="731520" y="2542032"/>
            <a:ext cx="1627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97A8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Known dents + scratches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97A8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position / size metadata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532888" y="2560320"/>
            <a:ext cx="301752" cy="0"/>
          </a:xfrm>
          <a:prstGeom prst="line">
            <a:avLst/>
          </a:prstGeom>
          <a:noFill/>
          <a:ln w="20320">
            <a:solidFill>
              <a:srgbClr val="4EA1FF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834640" y="1883664"/>
            <a:ext cx="1965960" cy="1371600"/>
          </a:xfrm>
          <a:prstGeom prst="roundRect">
            <a:avLst>
              <a:gd name="adj" fmla="val 8000"/>
            </a:avLst>
          </a:prstGeom>
          <a:solidFill>
            <a:srgbClr val="121C28"/>
          </a:solidFill>
          <a:ln w="12700">
            <a:solidFill>
              <a:srgbClr val="2A39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80944" y="2029968"/>
            <a:ext cx="393192" cy="393192"/>
          </a:xfrm>
          <a:prstGeom prst="ellipse">
            <a:avLst/>
          </a:prstGeom>
          <a:solidFill>
            <a:srgbClr val="56D6E8"/>
          </a:solidFill>
          <a:ln w="12700">
            <a:solidFill>
              <a:srgbClr val="56D6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80944" y="2029968"/>
            <a:ext cx="3931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1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93008" y="202996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E7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OPTICAL REPEATABILITY</a:t>
            </a:r>
            <a:endParaRPr lang="en-US" sz="860" dirty="0"/>
          </a:p>
        </p:txBody>
      </p:sp>
      <p:sp>
        <p:nvSpPr>
          <p:cNvPr id="15" name="Text 13"/>
          <p:cNvSpPr/>
          <p:nvPr/>
        </p:nvSpPr>
        <p:spPr>
          <a:xfrm>
            <a:off x="2999232" y="2542032"/>
            <a:ext cx="1627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97A8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Multiple captures / part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97A8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lighting + exposure variation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800600" y="2560320"/>
            <a:ext cx="301752" cy="0"/>
          </a:xfrm>
          <a:prstGeom prst="line">
            <a:avLst/>
          </a:prstGeom>
          <a:noFill/>
          <a:ln w="20320">
            <a:solidFill>
              <a:srgbClr val="4EA1FF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102352" y="1883664"/>
            <a:ext cx="1965960" cy="1371600"/>
          </a:xfrm>
          <a:prstGeom prst="roundRect">
            <a:avLst>
              <a:gd name="adj" fmla="val 8000"/>
            </a:avLst>
          </a:prstGeom>
          <a:solidFill>
            <a:srgbClr val="121C28"/>
          </a:solidFill>
          <a:ln w="12700">
            <a:solidFill>
              <a:srgbClr val="2A39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248656" y="2029968"/>
            <a:ext cx="393192" cy="393192"/>
          </a:xfrm>
          <a:prstGeom prst="ellipse">
            <a:avLst/>
          </a:prstGeom>
          <a:solidFill>
            <a:srgbClr val="F3C86B"/>
          </a:solidFill>
          <a:ln w="12700">
            <a:solidFill>
              <a:srgbClr val="F3C8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48656" y="2029968"/>
            <a:ext cx="3931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1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760720" y="202996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E7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CV TUNING</a:t>
            </a:r>
            <a:endParaRPr lang="en-US" sz="860" dirty="0"/>
          </a:p>
        </p:txBody>
      </p:sp>
      <p:sp>
        <p:nvSpPr>
          <p:cNvPr id="21" name="Text 19"/>
          <p:cNvSpPr/>
          <p:nvPr/>
        </p:nvSpPr>
        <p:spPr>
          <a:xfrm>
            <a:off x="5266944" y="2542032"/>
            <a:ext cx="1627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97A8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Sensitivity vs FP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97A8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pixel/mm calibration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068312" y="2560320"/>
            <a:ext cx="301752" cy="0"/>
          </a:xfrm>
          <a:prstGeom prst="line">
            <a:avLst/>
          </a:prstGeom>
          <a:noFill/>
          <a:ln w="20320">
            <a:solidFill>
              <a:srgbClr val="4EA1FF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370064" y="1883664"/>
            <a:ext cx="1965960" cy="1371600"/>
          </a:xfrm>
          <a:prstGeom prst="roundRect">
            <a:avLst>
              <a:gd name="adj" fmla="val 8000"/>
            </a:avLst>
          </a:prstGeom>
          <a:solidFill>
            <a:srgbClr val="121C28"/>
          </a:solidFill>
          <a:ln w="12700">
            <a:solidFill>
              <a:srgbClr val="2A39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16368" y="2029968"/>
            <a:ext cx="393192" cy="393192"/>
          </a:xfrm>
          <a:prstGeom prst="ellipse">
            <a:avLst/>
          </a:prstGeom>
          <a:solidFill>
            <a:srgbClr val="66D49C"/>
          </a:solidFill>
          <a:ln w="12700">
            <a:solidFill>
              <a:srgbClr val="66D49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16368" y="2029968"/>
            <a:ext cx="3931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1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028432" y="202996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E7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DL BENCHMARK</a:t>
            </a:r>
            <a:endParaRPr lang="en-US" sz="860" dirty="0"/>
          </a:p>
        </p:txBody>
      </p:sp>
      <p:sp>
        <p:nvSpPr>
          <p:cNvPr id="27" name="Text 25"/>
          <p:cNvSpPr/>
          <p:nvPr/>
        </p:nvSpPr>
        <p:spPr>
          <a:xfrm>
            <a:off x="7534656" y="2542032"/>
            <a:ext cx="1627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97A8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Segmentation / detector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97A8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hold-out comparison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9336024" y="2560320"/>
            <a:ext cx="301752" cy="0"/>
          </a:xfrm>
          <a:prstGeom prst="line">
            <a:avLst/>
          </a:prstGeom>
          <a:noFill/>
          <a:ln w="20320">
            <a:solidFill>
              <a:srgbClr val="4EA1FF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637776" y="1883664"/>
            <a:ext cx="1965960" cy="1371600"/>
          </a:xfrm>
          <a:prstGeom prst="roundRect">
            <a:avLst>
              <a:gd name="adj" fmla="val 8000"/>
            </a:avLst>
          </a:prstGeom>
          <a:solidFill>
            <a:srgbClr val="121C28"/>
          </a:solidFill>
          <a:ln w="12700">
            <a:solidFill>
              <a:srgbClr val="2A39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784080" y="2029968"/>
            <a:ext cx="393192" cy="393192"/>
          </a:xfrm>
          <a:prstGeom prst="ellipse">
            <a:avLst/>
          </a:prstGeom>
          <a:solidFill>
            <a:srgbClr val="FF6B7A"/>
          </a:solidFill>
          <a:ln w="12700">
            <a:solidFill>
              <a:srgbClr val="FF6B7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784080" y="2029968"/>
            <a:ext cx="3931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1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296144" y="202996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E7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TEST</a:t>
            </a:r>
            <a:endParaRPr lang="en-US" sz="860" dirty="0"/>
          </a:p>
        </p:txBody>
      </p:sp>
      <p:sp>
        <p:nvSpPr>
          <p:cNvPr id="33" name="Text 31"/>
          <p:cNvSpPr/>
          <p:nvPr/>
        </p:nvSpPr>
        <p:spPr>
          <a:xfrm>
            <a:off x="9802368" y="2542032"/>
            <a:ext cx="1627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97A8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Cycle time + stability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97A8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 / FAIL reliability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66928" y="370332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80" kern="0" dirty="0">
                <a:solidFill>
                  <a:srgbClr val="56D6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KPIS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566928" y="4023360"/>
            <a:ext cx="1965960" cy="749808"/>
          </a:xfrm>
          <a:prstGeom prst="roundRect">
            <a:avLst>
              <a:gd name="adj" fmla="val 14634"/>
            </a:avLst>
          </a:prstGeom>
          <a:solidFill>
            <a:srgbClr val="0E1722"/>
          </a:solidFill>
          <a:ln w="12700">
            <a:solidFill>
              <a:srgbClr val="2A39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6656" y="4151376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E7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Detection rate</a:t>
            </a:r>
            <a:endParaRPr lang="en-US" sz="840" dirty="0"/>
          </a:p>
        </p:txBody>
      </p:sp>
      <p:sp>
        <p:nvSpPr>
          <p:cNvPr id="37" name="Text 35"/>
          <p:cNvSpPr/>
          <p:nvPr/>
        </p:nvSpPr>
        <p:spPr>
          <a:xfrm>
            <a:off x="676656" y="4407408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97A8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defects found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2761488" y="4023360"/>
            <a:ext cx="1965960" cy="749808"/>
          </a:xfrm>
          <a:prstGeom prst="roundRect">
            <a:avLst>
              <a:gd name="adj" fmla="val 14634"/>
            </a:avLst>
          </a:prstGeom>
          <a:solidFill>
            <a:srgbClr val="0E1722"/>
          </a:solidFill>
          <a:ln w="12700">
            <a:solidFill>
              <a:srgbClr val="2A39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71216" y="4151376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E7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False-positive rate</a:t>
            </a:r>
            <a:endParaRPr lang="en-US" sz="840" dirty="0"/>
          </a:p>
        </p:txBody>
      </p:sp>
      <p:sp>
        <p:nvSpPr>
          <p:cNvPr id="40" name="Text 38"/>
          <p:cNvSpPr/>
          <p:nvPr/>
        </p:nvSpPr>
        <p:spPr>
          <a:xfrm>
            <a:off x="2871216" y="4407408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97A8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nuisance candidates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4956048" y="4023360"/>
            <a:ext cx="1965960" cy="749808"/>
          </a:xfrm>
          <a:prstGeom prst="roundRect">
            <a:avLst>
              <a:gd name="adj" fmla="val 14634"/>
            </a:avLst>
          </a:prstGeom>
          <a:solidFill>
            <a:srgbClr val="0E1722"/>
          </a:solidFill>
          <a:ln w="12700">
            <a:solidFill>
              <a:srgbClr val="2A39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65776" y="4151376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E7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Minimum detectable defect</a:t>
            </a:r>
            <a:endParaRPr lang="en-US" sz="840" dirty="0"/>
          </a:p>
        </p:txBody>
      </p:sp>
      <p:sp>
        <p:nvSpPr>
          <p:cNvPr id="43" name="Text 41"/>
          <p:cNvSpPr/>
          <p:nvPr/>
        </p:nvSpPr>
        <p:spPr>
          <a:xfrm>
            <a:off x="5065776" y="4407408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97A8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size threshold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7150608" y="4023360"/>
            <a:ext cx="1965960" cy="749808"/>
          </a:xfrm>
          <a:prstGeom prst="roundRect">
            <a:avLst>
              <a:gd name="adj" fmla="val 14634"/>
            </a:avLst>
          </a:prstGeom>
          <a:solidFill>
            <a:srgbClr val="0E1722"/>
          </a:solidFill>
          <a:ln w="12700">
            <a:solidFill>
              <a:srgbClr val="2A394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260336" y="4151376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E7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Processing time</a:t>
            </a:r>
            <a:endParaRPr lang="en-US" sz="840" dirty="0"/>
          </a:p>
        </p:txBody>
      </p:sp>
      <p:sp>
        <p:nvSpPr>
          <p:cNvPr id="46" name="Text 44"/>
          <p:cNvSpPr/>
          <p:nvPr/>
        </p:nvSpPr>
        <p:spPr>
          <a:xfrm>
            <a:off x="7260336" y="4407408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97A8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 frame / part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9345168" y="4023360"/>
            <a:ext cx="1965960" cy="749808"/>
          </a:xfrm>
          <a:prstGeom prst="roundRect">
            <a:avLst>
              <a:gd name="adj" fmla="val 14634"/>
            </a:avLst>
          </a:prstGeom>
          <a:solidFill>
            <a:srgbClr val="0E1722"/>
          </a:solidFill>
          <a:ln w="12700">
            <a:solidFill>
              <a:srgbClr val="2A394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454896" y="4151376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E7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Frame stability</a:t>
            </a:r>
            <a:endParaRPr lang="en-US" sz="840" dirty="0"/>
          </a:p>
        </p:txBody>
      </p:sp>
      <p:sp>
        <p:nvSpPr>
          <p:cNvPr id="49" name="Text 47"/>
          <p:cNvSpPr/>
          <p:nvPr/>
        </p:nvSpPr>
        <p:spPr>
          <a:xfrm>
            <a:off x="9454896" y="4407408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97A8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temporal persistence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566928" y="502920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80" kern="0" dirty="0">
                <a:solidFill>
                  <a:srgbClr val="56D6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IMMEDIATE WORK PACKAGES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566928" y="5321808"/>
            <a:ext cx="3401568" cy="603504"/>
          </a:xfrm>
          <a:prstGeom prst="roundRect">
            <a:avLst>
              <a:gd name="adj" fmla="val 18182"/>
            </a:avLst>
          </a:prstGeom>
          <a:solidFill>
            <a:srgbClr val="121C28"/>
          </a:solidFill>
          <a:ln w="12700">
            <a:solidFill>
              <a:srgbClr val="2A394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85800" y="5486400"/>
            <a:ext cx="310896" cy="256032"/>
          </a:xfrm>
          <a:prstGeom prst="roundRect">
            <a:avLst>
              <a:gd name="adj" fmla="val 50000"/>
            </a:avLst>
          </a:prstGeom>
          <a:solidFill>
            <a:srgbClr val="4EA1FF">
              <a:alpha val="13000"/>
            </a:srgbClr>
          </a:solidFill>
          <a:ln w="10160">
            <a:solidFill>
              <a:srgbClr val="4EA1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85800" y="5495544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4EA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20" dirty="0"/>
          </a:p>
        </p:txBody>
      </p:sp>
      <p:sp>
        <p:nvSpPr>
          <p:cNvPr id="54" name="Text 52"/>
          <p:cNvSpPr/>
          <p:nvPr/>
        </p:nvSpPr>
        <p:spPr>
          <a:xfrm>
            <a:off x="1097280" y="5413248"/>
            <a:ext cx="1152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E7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Optical setup</a:t>
            </a:r>
            <a:endParaRPr lang="en-US" sz="820" dirty="0"/>
          </a:p>
        </p:txBody>
      </p:sp>
      <p:sp>
        <p:nvSpPr>
          <p:cNvPr id="55" name="Text 53"/>
          <p:cNvSpPr/>
          <p:nvPr/>
        </p:nvSpPr>
        <p:spPr>
          <a:xfrm>
            <a:off x="2194560" y="5394960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97A8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 camera pose, focus, exposure, RGB recipes</a:t>
            </a:r>
            <a:endParaRPr lang="en-US" sz="720" dirty="0"/>
          </a:p>
        </p:txBody>
      </p:sp>
      <p:sp>
        <p:nvSpPr>
          <p:cNvPr id="56" name="Shape 54"/>
          <p:cNvSpPr/>
          <p:nvPr/>
        </p:nvSpPr>
        <p:spPr>
          <a:xfrm>
            <a:off x="4242816" y="5321808"/>
            <a:ext cx="3401568" cy="603504"/>
          </a:xfrm>
          <a:prstGeom prst="roundRect">
            <a:avLst>
              <a:gd name="adj" fmla="val 18182"/>
            </a:avLst>
          </a:prstGeom>
          <a:solidFill>
            <a:srgbClr val="121C28"/>
          </a:solidFill>
          <a:ln w="12700">
            <a:solidFill>
              <a:srgbClr val="2A394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361688" y="5486400"/>
            <a:ext cx="310896" cy="256032"/>
          </a:xfrm>
          <a:prstGeom prst="roundRect">
            <a:avLst>
              <a:gd name="adj" fmla="val 50000"/>
            </a:avLst>
          </a:prstGeom>
          <a:solidFill>
            <a:srgbClr val="4EA1FF">
              <a:alpha val="13000"/>
            </a:srgbClr>
          </a:solidFill>
          <a:ln w="10160">
            <a:solidFill>
              <a:srgbClr val="4EA1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361688" y="5495544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4EA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20" dirty="0"/>
          </a:p>
        </p:txBody>
      </p:sp>
      <p:sp>
        <p:nvSpPr>
          <p:cNvPr id="59" name="Text 57"/>
          <p:cNvSpPr/>
          <p:nvPr/>
        </p:nvSpPr>
        <p:spPr>
          <a:xfrm>
            <a:off x="4773168" y="5413248"/>
            <a:ext cx="1152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E7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Ground truth</a:t>
            </a:r>
            <a:endParaRPr lang="en-US" sz="820" dirty="0"/>
          </a:p>
        </p:txBody>
      </p:sp>
      <p:sp>
        <p:nvSpPr>
          <p:cNvPr id="60" name="Text 58"/>
          <p:cNvSpPr/>
          <p:nvPr/>
        </p:nvSpPr>
        <p:spPr>
          <a:xfrm>
            <a:off x="5870448" y="5394960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97A8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labeled library: type + size + location</a:t>
            </a:r>
            <a:endParaRPr lang="en-US" sz="720" dirty="0"/>
          </a:p>
        </p:txBody>
      </p:sp>
      <p:sp>
        <p:nvSpPr>
          <p:cNvPr id="61" name="Shape 59"/>
          <p:cNvSpPr/>
          <p:nvPr/>
        </p:nvSpPr>
        <p:spPr>
          <a:xfrm>
            <a:off x="7918704" y="5321808"/>
            <a:ext cx="3401568" cy="603504"/>
          </a:xfrm>
          <a:prstGeom prst="roundRect">
            <a:avLst>
              <a:gd name="adj" fmla="val 18182"/>
            </a:avLst>
          </a:prstGeom>
          <a:solidFill>
            <a:srgbClr val="121C28"/>
          </a:solidFill>
          <a:ln w="12700">
            <a:solidFill>
              <a:srgbClr val="2A394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037576" y="5486400"/>
            <a:ext cx="310896" cy="256032"/>
          </a:xfrm>
          <a:prstGeom prst="roundRect">
            <a:avLst>
              <a:gd name="adj" fmla="val 50000"/>
            </a:avLst>
          </a:prstGeom>
          <a:solidFill>
            <a:srgbClr val="4EA1FF">
              <a:alpha val="13000"/>
            </a:srgbClr>
          </a:solidFill>
          <a:ln w="10160">
            <a:solidFill>
              <a:srgbClr val="4EA1F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037576" y="5495544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4EA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20" dirty="0"/>
          </a:p>
        </p:txBody>
      </p:sp>
      <p:sp>
        <p:nvSpPr>
          <p:cNvPr id="64" name="Text 62"/>
          <p:cNvSpPr/>
          <p:nvPr/>
        </p:nvSpPr>
        <p:spPr>
          <a:xfrm>
            <a:off x="8449056" y="5413248"/>
            <a:ext cx="1152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E7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Detector benchmark</a:t>
            </a:r>
            <a:endParaRPr lang="en-US" sz="820" dirty="0"/>
          </a:p>
        </p:txBody>
      </p:sp>
      <p:sp>
        <p:nvSpPr>
          <p:cNvPr id="65" name="Text 63"/>
          <p:cNvSpPr/>
          <p:nvPr/>
        </p:nvSpPr>
        <p:spPr>
          <a:xfrm>
            <a:off x="9546336" y="5394960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97A8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Traditional CV → DL → Hybrid on same protocol</a:t>
            </a:r>
            <a:endParaRPr lang="en-US" sz="720" dirty="0"/>
          </a:p>
        </p:txBody>
      </p:sp>
      <p:sp>
        <p:nvSpPr>
          <p:cNvPr id="66" name="Text 64"/>
          <p:cNvSpPr/>
          <p:nvPr/>
        </p:nvSpPr>
        <p:spPr>
          <a:xfrm>
            <a:off x="11018520" y="599846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EA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4EA1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Computer Vision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Dent &amp; Scratch Defect Inspection — Back Glass</dc:title>
  <dc:subject>Industrial Computer Vision</dc:subject>
  <dc:creator>OpenAI</dc:creator>
  <cp:lastModifiedBy>OpenAI</cp:lastModifiedBy>
  <cp:revision>1</cp:revision>
  <dcterms:created xsi:type="dcterms:W3CDTF">2026-09-17T06:03:30Z</dcterms:created>
  <dcterms:modified xsi:type="dcterms:W3CDTF">2026-09-17T06:03:30Z</dcterms:modified>
</cp:coreProperties>
</file>